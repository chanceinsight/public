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ECEB0-51DE-2F0B-2134-2E24783EB1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D278350-3A09-B007-6976-099DD077B0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8C3615D9-A742-FB4B-5F13-AD0B1CEAA10D}"/>
              </a:ext>
            </a:extLst>
          </p:cNvPr>
          <p:cNvSpPr>
            <a:spLocks noGrp="1"/>
          </p:cNvSpPr>
          <p:nvPr>
            <p:ph type="dt" sz="half" idx="10"/>
          </p:nvPr>
        </p:nvSpPr>
        <p:spPr/>
        <p:txBody>
          <a:bodyPr/>
          <a:lstStyle/>
          <a:p>
            <a:fld id="{9D076216-3AC1-49A2-9042-941B4B596FEC}" type="datetimeFigureOut">
              <a:rPr lang="en-GB" smtClean="0"/>
              <a:t>04/07/2024</a:t>
            </a:fld>
            <a:endParaRPr lang="en-GB"/>
          </a:p>
        </p:txBody>
      </p:sp>
      <p:sp>
        <p:nvSpPr>
          <p:cNvPr id="5" name="Footer Placeholder 4">
            <a:extLst>
              <a:ext uri="{FF2B5EF4-FFF2-40B4-BE49-F238E27FC236}">
                <a16:creationId xmlns:a16="http://schemas.microsoft.com/office/drawing/2014/main" id="{2254598A-6103-3FE0-C5BA-25C34F03F0B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D328348-FE3A-9EB3-00EC-52D379692F33}"/>
              </a:ext>
            </a:extLst>
          </p:cNvPr>
          <p:cNvSpPr>
            <a:spLocks noGrp="1"/>
          </p:cNvSpPr>
          <p:nvPr>
            <p:ph type="sldNum" sz="quarter" idx="12"/>
          </p:nvPr>
        </p:nvSpPr>
        <p:spPr/>
        <p:txBody>
          <a:bodyPr/>
          <a:lstStyle/>
          <a:p>
            <a:fld id="{3026E7F4-C9D8-4B83-81F8-67F818977ED1}" type="slidenum">
              <a:rPr lang="en-GB" smtClean="0"/>
              <a:t>‹#›</a:t>
            </a:fld>
            <a:endParaRPr lang="en-GB"/>
          </a:p>
        </p:txBody>
      </p:sp>
    </p:spTree>
    <p:extLst>
      <p:ext uri="{BB962C8B-B14F-4D97-AF65-F5344CB8AC3E}">
        <p14:creationId xmlns:p14="http://schemas.microsoft.com/office/powerpoint/2010/main" val="2461406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17205-98DD-ADB3-8398-D84D224907C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D004DCC-671E-119B-0698-9599C638E9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80400FD-3A38-711F-8C5A-29E772AAC6EF}"/>
              </a:ext>
            </a:extLst>
          </p:cNvPr>
          <p:cNvSpPr>
            <a:spLocks noGrp="1"/>
          </p:cNvSpPr>
          <p:nvPr>
            <p:ph type="dt" sz="half" idx="10"/>
          </p:nvPr>
        </p:nvSpPr>
        <p:spPr/>
        <p:txBody>
          <a:bodyPr/>
          <a:lstStyle/>
          <a:p>
            <a:fld id="{9D076216-3AC1-49A2-9042-941B4B596FEC}" type="datetimeFigureOut">
              <a:rPr lang="en-GB" smtClean="0"/>
              <a:t>04/07/2024</a:t>
            </a:fld>
            <a:endParaRPr lang="en-GB"/>
          </a:p>
        </p:txBody>
      </p:sp>
      <p:sp>
        <p:nvSpPr>
          <p:cNvPr id="5" name="Footer Placeholder 4">
            <a:extLst>
              <a:ext uri="{FF2B5EF4-FFF2-40B4-BE49-F238E27FC236}">
                <a16:creationId xmlns:a16="http://schemas.microsoft.com/office/drawing/2014/main" id="{33DB5248-01CF-F834-BA73-294A9B53BBC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C4233D-AD1B-AEC1-DCC6-5088B2E83440}"/>
              </a:ext>
            </a:extLst>
          </p:cNvPr>
          <p:cNvSpPr>
            <a:spLocks noGrp="1"/>
          </p:cNvSpPr>
          <p:nvPr>
            <p:ph type="sldNum" sz="quarter" idx="12"/>
          </p:nvPr>
        </p:nvSpPr>
        <p:spPr/>
        <p:txBody>
          <a:bodyPr/>
          <a:lstStyle/>
          <a:p>
            <a:fld id="{3026E7F4-C9D8-4B83-81F8-67F818977ED1}" type="slidenum">
              <a:rPr lang="en-GB" smtClean="0"/>
              <a:t>‹#›</a:t>
            </a:fld>
            <a:endParaRPr lang="en-GB"/>
          </a:p>
        </p:txBody>
      </p:sp>
    </p:spTree>
    <p:extLst>
      <p:ext uri="{BB962C8B-B14F-4D97-AF65-F5344CB8AC3E}">
        <p14:creationId xmlns:p14="http://schemas.microsoft.com/office/powerpoint/2010/main" val="1694381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8C84F-4923-6746-7EE7-97D9972925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6BE2226-EF09-02C2-E59A-A854FF9A1AA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5C63D6-ADB4-1755-167C-E436F3F06A3C}"/>
              </a:ext>
            </a:extLst>
          </p:cNvPr>
          <p:cNvSpPr>
            <a:spLocks noGrp="1"/>
          </p:cNvSpPr>
          <p:nvPr>
            <p:ph type="dt" sz="half" idx="10"/>
          </p:nvPr>
        </p:nvSpPr>
        <p:spPr/>
        <p:txBody>
          <a:bodyPr/>
          <a:lstStyle/>
          <a:p>
            <a:fld id="{9D076216-3AC1-49A2-9042-941B4B596FEC}" type="datetimeFigureOut">
              <a:rPr lang="en-GB" smtClean="0"/>
              <a:t>04/07/2024</a:t>
            </a:fld>
            <a:endParaRPr lang="en-GB"/>
          </a:p>
        </p:txBody>
      </p:sp>
      <p:sp>
        <p:nvSpPr>
          <p:cNvPr id="5" name="Footer Placeholder 4">
            <a:extLst>
              <a:ext uri="{FF2B5EF4-FFF2-40B4-BE49-F238E27FC236}">
                <a16:creationId xmlns:a16="http://schemas.microsoft.com/office/drawing/2014/main" id="{1582C63F-8637-5A3B-747B-8E20553C0DA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B932CBD-9CD8-F59E-015B-126FC5322D58}"/>
              </a:ext>
            </a:extLst>
          </p:cNvPr>
          <p:cNvSpPr>
            <a:spLocks noGrp="1"/>
          </p:cNvSpPr>
          <p:nvPr>
            <p:ph type="sldNum" sz="quarter" idx="12"/>
          </p:nvPr>
        </p:nvSpPr>
        <p:spPr/>
        <p:txBody>
          <a:bodyPr/>
          <a:lstStyle/>
          <a:p>
            <a:fld id="{3026E7F4-C9D8-4B83-81F8-67F818977ED1}" type="slidenum">
              <a:rPr lang="en-GB" smtClean="0"/>
              <a:t>‹#›</a:t>
            </a:fld>
            <a:endParaRPr lang="en-GB"/>
          </a:p>
        </p:txBody>
      </p:sp>
    </p:spTree>
    <p:extLst>
      <p:ext uri="{BB962C8B-B14F-4D97-AF65-F5344CB8AC3E}">
        <p14:creationId xmlns:p14="http://schemas.microsoft.com/office/powerpoint/2010/main" val="678982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760F4-DF0C-F239-7EF2-BFD1C1A7E94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65B7D12-62B4-4E5B-0510-A633E76EA2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081D21F-25AC-1C82-8BD3-12CCD9794F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7D83C45-8D40-D849-F991-3F21A3CB16A0}"/>
              </a:ext>
            </a:extLst>
          </p:cNvPr>
          <p:cNvSpPr>
            <a:spLocks noGrp="1"/>
          </p:cNvSpPr>
          <p:nvPr>
            <p:ph type="dt" sz="half" idx="10"/>
          </p:nvPr>
        </p:nvSpPr>
        <p:spPr/>
        <p:txBody>
          <a:bodyPr/>
          <a:lstStyle/>
          <a:p>
            <a:fld id="{9D076216-3AC1-49A2-9042-941B4B596FEC}" type="datetimeFigureOut">
              <a:rPr lang="en-GB" smtClean="0"/>
              <a:t>04/07/2024</a:t>
            </a:fld>
            <a:endParaRPr lang="en-GB"/>
          </a:p>
        </p:txBody>
      </p:sp>
      <p:sp>
        <p:nvSpPr>
          <p:cNvPr id="6" name="Footer Placeholder 5">
            <a:extLst>
              <a:ext uri="{FF2B5EF4-FFF2-40B4-BE49-F238E27FC236}">
                <a16:creationId xmlns:a16="http://schemas.microsoft.com/office/drawing/2014/main" id="{C630DC97-62F8-1B08-213E-FCA008B35CC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C8B5219-0D2E-4795-8256-BD049DD0FE37}"/>
              </a:ext>
            </a:extLst>
          </p:cNvPr>
          <p:cNvSpPr>
            <a:spLocks noGrp="1"/>
          </p:cNvSpPr>
          <p:nvPr>
            <p:ph type="sldNum" sz="quarter" idx="12"/>
          </p:nvPr>
        </p:nvSpPr>
        <p:spPr/>
        <p:txBody>
          <a:bodyPr/>
          <a:lstStyle/>
          <a:p>
            <a:fld id="{3026E7F4-C9D8-4B83-81F8-67F818977ED1}" type="slidenum">
              <a:rPr lang="en-GB" smtClean="0"/>
              <a:t>‹#›</a:t>
            </a:fld>
            <a:endParaRPr lang="en-GB"/>
          </a:p>
        </p:txBody>
      </p:sp>
    </p:spTree>
    <p:extLst>
      <p:ext uri="{BB962C8B-B14F-4D97-AF65-F5344CB8AC3E}">
        <p14:creationId xmlns:p14="http://schemas.microsoft.com/office/powerpoint/2010/main" val="5266449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76B8F-EE21-BF4E-A495-FB7B4976B13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C7354D2-C192-2732-F43E-7640F19732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3CDF2A-56EA-27AB-7AB8-6562155066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A61845E-F928-1967-AD0A-DCC7EF86A3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A2BFC9-2DC8-73A6-94D6-2C48D0D53BE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586F863-BA9A-2ACE-8C18-218694B15D05}"/>
              </a:ext>
            </a:extLst>
          </p:cNvPr>
          <p:cNvSpPr>
            <a:spLocks noGrp="1"/>
          </p:cNvSpPr>
          <p:nvPr>
            <p:ph type="dt" sz="half" idx="10"/>
          </p:nvPr>
        </p:nvSpPr>
        <p:spPr/>
        <p:txBody>
          <a:bodyPr/>
          <a:lstStyle/>
          <a:p>
            <a:fld id="{9D076216-3AC1-49A2-9042-941B4B596FEC}" type="datetimeFigureOut">
              <a:rPr lang="en-GB" smtClean="0"/>
              <a:t>04/07/2024</a:t>
            </a:fld>
            <a:endParaRPr lang="en-GB"/>
          </a:p>
        </p:txBody>
      </p:sp>
      <p:sp>
        <p:nvSpPr>
          <p:cNvPr id="8" name="Footer Placeholder 7">
            <a:extLst>
              <a:ext uri="{FF2B5EF4-FFF2-40B4-BE49-F238E27FC236}">
                <a16:creationId xmlns:a16="http://schemas.microsoft.com/office/drawing/2014/main" id="{CB08EC35-A8FD-47F1-CD6E-04C42D1C6E1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9192E92-09F9-F4F0-B1A8-89226BE42FC5}"/>
              </a:ext>
            </a:extLst>
          </p:cNvPr>
          <p:cNvSpPr>
            <a:spLocks noGrp="1"/>
          </p:cNvSpPr>
          <p:nvPr>
            <p:ph type="sldNum" sz="quarter" idx="12"/>
          </p:nvPr>
        </p:nvSpPr>
        <p:spPr/>
        <p:txBody>
          <a:bodyPr/>
          <a:lstStyle/>
          <a:p>
            <a:fld id="{3026E7F4-C9D8-4B83-81F8-67F818977ED1}" type="slidenum">
              <a:rPr lang="en-GB" smtClean="0"/>
              <a:t>‹#›</a:t>
            </a:fld>
            <a:endParaRPr lang="en-GB"/>
          </a:p>
        </p:txBody>
      </p:sp>
    </p:spTree>
    <p:extLst>
      <p:ext uri="{BB962C8B-B14F-4D97-AF65-F5344CB8AC3E}">
        <p14:creationId xmlns:p14="http://schemas.microsoft.com/office/powerpoint/2010/main" val="3906099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79EC9-EEDA-E38E-930A-515A0905DB8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C52B971-9C16-99C7-1704-2EDE812C55CA}"/>
              </a:ext>
            </a:extLst>
          </p:cNvPr>
          <p:cNvSpPr>
            <a:spLocks noGrp="1"/>
          </p:cNvSpPr>
          <p:nvPr>
            <p:ph type="dt" sz="half" idx="10"/>
          </p:nvPr>
        </p:nvSpPr>
        <p:spPr/>
        <p:txBody>
          <a:bodyPr/>
          <a:lstStyle/>
          <a:p>
            <a:fld id="{9D076216-3AC1-49A2-9042-941B4B596FEC}" type="datetimeFigureOut">
              <a:rPr lang="en-GB" smtClean="0"/>
              <a:t>04/07/2024</a:t>
            </a:fld>
            <a:endParaRPr lang="en-GB"/>
          </a:p>
        </p:txBody>
      </p:sp>
      <p:sp>
        <p:nvSpPr>
          <p:cNvPr id="4" name="Footer Placeholder 3">
            <a:extLst>
              <a:ext uri="{FF2B5EF4-FFF2-40B4-BE49-F238E27FC236}">
                <a16:creationId xmlns:a16="http://schemas.microsoft.com/office/drawing/2014/main" id="{291398C2-CBE0-3921-4BFE-E7EF1653187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0ACD6C4-48BC-3F89-9769-1C90ADE0F928}"/>
              </a:ext>
            </a:extLst>
          </p:cNvPr>
          <p:cNvSpPr>
            <a:spLocks noGrp="1"/>
          </p:cNvSpPr>
          <p:nvPr>
            <p:ph type="sldNum" sz="quarter" idx="12"/>
          </p:nvPr>
        </p:nvSpPr>
        <p:spPr/>
        <p:txBody>
          <a:bodyPr/>
          <a:lstStyle/>
          <a:p>
            <a:fld id="{3026E7F4-C9D8-4B83-81F8-67F818977ED1}" type="slidenum">
              <a:rPr lang="en-GB" smtClean="0"/>
              <a:t>‹#›</a:t>
            </a:fld>
            <a:endParaRPr lang="en-GB"/>
          </a:p>
        </p:txBody>
      </p:sp>
    </p:spTree>
    <p:extLst>
      <p:ext uri="{BB962C8B-B14F-4D97-AF65-F5344CB8AC3E}">
        <p14:creationId xmlns:p14="http://schemas.microsoft.com/office/powerpoint/2010/main" val="2084821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92E14C-0B16-DEF6-5380-867C25B06385}"/>
              </a:ext>
            </a:extLst>
          </p:cNvPr>
          <p:cNvSpPr>
            <a:spLocks noGrp="1"/>
          </p:cNvSpPr>
          <p:nvPr>
            <p:ph type="dt" sz="half" idx="10"/>
          </p:nvPr>
        </p:nvSpPr>
        <p:spPr/>
        <p:txBody>
          <a:bodyPr/>
          <a:lstStyle/>
          <a:p>
            <a:fld id="{9D076216-3AC1-49A2-9042-941B4B596FEC}" type="datetimeFigureOut">
              <a:rPr lang="en-GB" smtClean="0"/>
              <a:t>04/07/2024</a:t>
            </a:fld>
            <a:endParaRPr lang="en-GB"/>
          </a:p>
        </p:txBody>
      </p:sp>
      <p:sp>
        <p:nvSpPr>
          <p:cNvPr id="3" name="Footer Placeholder 2">
            <a:extLst>
              <a:ext uri="{FF2B5EF4-FFF2-40B4-BE49-F238E27FC236}">
                <a16:creationId xmlns:a16="http://schemas.microsoft.com/office/drawing/2014/main" id="{1CC931DE-178F-43FC-DA31-D3DDB097FCC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6B9FB1C-CA77-B036-7663-02B6D6B51058}"/>
              </a:ext>
            </a:extLst>
          </p:cNvPr>
          <p:cNvSpPr>
            <a:spLocks noGrp="1"/>
          </p:cNvSpPr>
          <p:nvPr>
            <p:ph type="sldNum" sz="quarter" idx="12"/>
          </p:nvPr>
        </p:nvSpPr>
        <p:spPr/>
        <p:txBody>
          <a:bodyPr/>
          <a:lstStyle/>
          <a:p>
            <a:fld id="{3026E7F4-C9D8-4B83-81F8-67F818977ED1}" type="slidenum">
              <a:rPr lang="en-GB" smtClean="0"/>
              <a:t>‹#›</a:t>
            </a:fld>
            <a:endParaRPr lang="en-GB"/>
          </a:p>
        </p:txBody>
      </p:sp>
    </p:spTree>
    <p:extLst>
      <p:ext uri="{BB962C8B-B14F-4D97-AF65-F5344CB8AC3E}">
        <p14:creationId xmlns:p14="http://schemas.microsoft.com/office/powerpoint/2010/main" val="1872358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322EC-46BA-40FA-E86C-35F6BE61CF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F83899F-7B85-DA44-4B19-E44BDA29CA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858F7D8-5CC0-851D-661C-85AE0FF9A3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179B77-D1C2-8996-4F3D-2426B256BADB}"/>
              </a:ext>
            </a:extLst>
          </p:cNvPr>
          <p:cNvSpPr>
            <a:spLocks noGrp="1"/>
          </p:cNvSpPr>
          <p:nvPr>
            <p:ph type="dt" sz="half" idx="10"/>
          </p:nvPr>
        </p:nvSpPr>
        <p:spPr/>
        <p:txBody>
          <a:bodyPr/>
          <a:lstStyle/>
          <a:p>
            <a:fld id="{9D076216-3AC1-49A2-9042-941B4B596FEC}" type="datetimeFigureOut">
              <a:rPr lang="en-GB" smtClean="0"/>
              <a:t>04/07/2024</a:t>
            </a:fld>
            <a:endParaRPr lang="en-GB"/>
          </a:p>
        </p:txBody>
      </p:sp>
      <p:sp>
        <p:nvSpPr>
          <p:cNvPr id="6" name="Footer Placeholder 5">
            <a:extLst>
              <a:ext uri="{FF2B5EF4-FFF2-40B4-BE49-F238E27FC236}">
                <a16:creationId xmlns:a16="http://schemas.microsoft.com/office/drawing/2014/main" id="{FB13736B-144D-4602-8BBE-92A1D7DC9A7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353E03B-E668-C048-6A3C-23A711A3A710}"/>
              </a:ext>
            </a:extLst>
          </p:cNvPr>
          <p:cNvSpPr>
            <a:spLocks noGrp="1"/>
          </p:cNvSpPr>
          <p:nvPr>
            <p:ph type="sldNum" sz="quarter" idx="12"/>
          </p:nvPr>
        </p:nvSpPr>
        <p:spPr/>
        <p:txBody>
          <a:bodyPr/>
          <a:lstStyle/>
          <a:p>
            <a:fld id="{3026E7F4-C9D8-4B83-81F8-67F818977ED1}" type="slidenum">
              <a:rPr lang="en-GB" smtClean="0"/>
              <a:t>‹#›</a:t>
            </a:fld>
            <a:endParaRPr lang="en-GB"/>
          </a:p>
        </p:txBody>
      </p:sp>
    </p:spTree>
    <p:extLst>
      <p:ext uri="{BB962C8B-B14F-4D97-AF65-F5344CB8AC3E}">
        <p14:creationId xmlns:p14="http://schemas.microsoft.com/office/powerpoint/2010/main" val="17553923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23B3B-3E78-CBE3-3A8E-68E48A8C20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8D37D49-AB6D-A17C-C5CF-D71CBE1160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0C564B4-B0EC-BE44-812A-41D89F2DF4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52A8E2-99C5-4A98-ACB4-E5C63704CA56}"/>
              </a:ext>
            </a:extLst>
          </p:cNvPr>
          <p:cNvSpPr>
            <a:spLocks noGrp="1"/>
          </p:cNvSpPr>
          <p:nvPr>
            <p:ph type="dt" sz="half" idx="10"/>
          </p:nvPr>
        </p:nvSpPr>
        <p:spPr/>
        <p:txBody>
          <a:bodyPr/>
          <a:lstStyle/>
          <a:p>
            <a:fld id="{9D076216-3AC1-49A2-9042-941B4B596FEC}" type="datetimeFigureOut">
              <a:rPr lang="en-GB" smtClean="0"/>
              <a:t>04/07/2024</a:t>
            </a:fld>
            <a:endParaRPr lang="en-GB"/>
          </a:p>
        </p:txBody>
      </p:sp>
      <p:sp>
        <p:nvSpPr>
          <p:cNvPr id="6" name="Footer Placeholder 5">
            <a:extLst>
              <a:ext uri="{FF2B5EF4-FFF2-40B4-BE49-F238E27FC236}">
                <a16:creationId xmlns:a16="http://schemas.microsoft.com/office/drawing/2014/main" id="{673C816C-AD08-F1C8-0825-ABC1B14F9A8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6234E1A-5CB1-D846-2B56-A46B054F9F01}"/>
              </a:ext>
            </a:extLst>
          </p:cNvPr>
          <p:cNvSpPr>
            <a:spLocks noGrp="1"/>
          </p:cNvSpPr>
          <p:nvPr>
            <p:ph type="sldNum" sz="quarter" idx="12"/>
          </p:nvPr>
        </p:nvSpPr>
        <p:spPr/>
        <p:txBody>
          <a:bodyPr/>
          <a:lstStyle/>
          <a:p>
            <a:fld id="{3026E7F4-C9D8-4B83-81F8-67F818977ED1}" type="slidenum">
              <a:rPr lang="en-GB" smtClean="0"/>
              <a:t>‹#›</a:t>
            </a:fld>
            <a:endParaRPr lang="en-GB"/>
          </a:p>
        </p:txBody>
      </p:sp>
    </p:spTree>
    <p:extLst>
      <p:ext uri="{BB962C8B-B14F-4D97-AF65-F5344CB8AC3E}">
        <p14:creationId xmlns:p14="http://schemas.microsoft.com/office/powerpoint/2010/main" val="1768653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38019-8BD7-D467-2CBB-B3EF4DE946B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AE7DA22-989A-30E5-A18D-A8558045D1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FF7DAC0-5C92-AA2E-CDA7-99543916DBDD}"/>
              </a:ext>
            </a:extLst>
          </p:cNvPr>
          <p:cNvSpPr>
            <a:spLocks noGrp="1"/>
          </p:cNvSpPr>
          <p:nvPr>
            <p:ph type="dt" sz="half" idx="10"/>
          </p:nvPr>
        </p:nvSpPr>
        <p:spPr/>
        <p:txBody>
          <a:bodyPr/>
          <a:lstStyle/>
          <a:p>
            <a:fld id="{9D076216-3AC1-49A2-9042-941B4B596FEC}" type="datetimeFigureOut">
              <a:rPr lang="en-GB" smtClean="0"/>
              <a:t>04/07/2024</a:t>
            </a:fld>
            <a:endParaRPr lang="en-GB"/>
          </a:p>
        </p:txBody>
      </p:sp>
      <p:sp>
        <p:nvSpPr>
          <p:cNvPr id="5" name="Footer Placeholder 4">
            <a:extLst>
              <a:ext uri="{FF2B5EF4-FFF2-40B4-BE49-F238E27FC236}">
                <a16:creationId xmlns:a16="http://schemas.microsoft.com/office/drawing/2014/main" id="{D778F6AE-D78C-6B7B-F855-870EF95A4BD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ACA1711-48B0-A861-CC15-1F42930699A3}"/>
              </a:ext>
            </a:extLst>
          </p:cNvPr>
          <p:cNvSpPr>
            <a:spLocks noGrp="1"/>
          </p:cNvSpPr>
          <p:nvPr>
            <p:ph type="sldNum" sz="quarter" idx="12"/>
          </p:nvPr>
        </p:nvSpPr>
        <p:spPr/>
        <p:txBody>
          <a:bodyPr/>
          <a:lstStyle/>
          <a:p>
            <a:fld id="{3026E7F4-C9D8-4B83-81F8-67F818977ED1}" type="slidenum">
              <a:rPr lang="en-GB" smtClean="0"/>
              <a:t>‹#›</a:t>
            </a:fld>
            <a:endParaRPr lang="en-GB"/>
          </a:p>
        </p:txBody>
      </p:sp>
    </p:spTree>
    <p:extLst>
      <p:ext uri="{BB962C8B-B14F-4D97-AF65-F5344CB8AC3E}">
        <p14:creationId xmlns:p14="http://schemas.microsoft.com/office/powerpoint/2010/main" val="3732512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0366E4-B168-03F8-86AE-EBA2350A2C7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A4B2075-CF01-A1E8-CF60-FD65DEE430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CF90EF9-4C89-F2A2-F789-A0B92BD30859}"/>
              </a:ext>
            </a:extLst>
          </p:cNvPr>
          <p:cNvSpPr>
            <a:spLocks noGrp="1"/>
          </p:cNvSpPr>
          <p:nvPr>
            <p:ph type="dt" sz="half" idx="10"/>
          </p:nvPr>
        </p:nvSpPr>
        <p:spPr/>
        <p:txBody>
          <a:bodyPr/>
          <a:lstStyle/>
          <a:p>
            <a:fld id="{9D076216-3AC1-49A2-9042-941B4B596FEC}" type="datetimeFigureOut">
              <a:rPr lang="en-GB" smtClean="0"/>
              <a:t>04/07/2024</a:t>
            </a:fld>
            <a:endParaRPr lang="en-GB"/>
          </a:p>
        </p:txBody>
      </p:sp>
      <p:sp>
        <p:nvSpPr>
          <p:cNvPr id="5" name="Footer Placeholder 4">
            <a:extLst>
              <a:ext uri="{FF2B5EF4-FFF2-40B4-BE49-F238E27FC236}">
                <a16:creationId xmlns:a16="http://schemas.microsoft.com/office/drawing/2014/main" id="{C959F5D0-0610-C568-AD75-DCF1F2A059A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739E1E3-E43B-A4A3-7B32-AA72DFB8CB11}"/>
              </a:ext>
            </a:extLst>
          </p:cNvPr>
          <p:cNvSpPr>
            <a:spLocks noGrp="1"/>
          </p:cNvSpPr>
          <p:nvPr>
            <p:ph type="sldNum" sz="quarter" idx="12"/>
          </p:nvPr>
        </p:nvSpPr>
        <p:spPr/>
        <p:txBody>
          <a:bodyPr/>
          <a:lstStyle/>
          <a:p>
            <a:fld id="{3026E7F4-C9D8-4B83-81F8-67F818977ED1}" type="slidenum">
              <a:rPr lang="en-GB" smtClean="0"/>
              <a:t>‹#›</a:t>
            </a:fld>
            <a:endParaRPr lang="en-GB"/>
          </a:p>
        </p:txBody>
      </p:sp>
    </p:spTree>
    <p:extLst>
      <p:ext uri="{BB962C8B-B14F-4D97-AF65-F5344CB8AC3E}">
        <p14:creationId xmlns:p14="http://schemas.microsoft.com/office/powerpoint/2010/main" val="3104689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7F7F40-16F4-542E-21DB-C0F84DCF5A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FB5CB1D-66DF-CF99-7318-4B42A00C17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D414C3A-DF55-94E1-DA38-3DD2F2FF9A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D076216-3AC1-49A2-9042-941B4B596FEC}" type="datetimeFigureOut">
              <a:rPr lang="en-GB" smtClean="0"/>
              <a:t>04/07/2024</a:t>
            </a:fld>
            <a:endParaRPr lang="en-GB"/>
          </a:p>
        </p:txBody>
      </p:sp>
      <p:sp>
        <p:nvSpPr>
          <p:cNvPr id="5" name="Footer Placeholder 4">
            <a:extLst>
              <a:ext uri="{FF2B5EF4-FFF2-40B4-BE49-F238E27FC236}">
                <a16:creationId xmlns:a16="http://schemas.microsoft.com/office/drawing/2014/main" id="{EFBD108C-D5FA-8049-337E-836D64AC0C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C6D99B5A-BF64-9891-A9AE-EC4D733AD8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026E7F4-C9D8-4B83-81F8-67F818977ED1}" type="slidenum">
              <a:rPr lang="en-GB" smtClean="0"/>
              <a:t>‹#›</a:t>
            </a:fld>
            <a:endParaRPr lang="en-GB"/>
          </a:p>
        </p:txBody>
      </p:sp>
    </p:spTree>
    <p:extLst>
      <p:ext uri="{BB962C8B-B14F-4D97-AF65-F5344CB8AC3E}">
        <p14:creationId xmlns:p14="http://schemas.microsoft.com/office/powerpoint/2010/main" val="41535794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463;p21">
            <a:extLst>
              <a:ext uri="{FF2B5EF4-FFF2-40B4-BE49-F238E27FC236}">
                <a16:creationId xmlns:a16="http://schemas.microsoft.com/office/drawing/2014/main" id="{59C442AD-9312-A26F-5981-8C598920B4D4}"/>
              </a:ext>
            </a:extLst>
          </p:cNvPr>
          <p:cNvSpPr txBox="1"/>
          <p:nvPr/>
        </p:nvSpPr>
        <p:spPr>
          <a:xfrm>
            <a:off x="231865" y="172286"/>
            <a:ext cx="11433482" cy="40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200"/>
              </a:spcAft>
              <a:buNone/>
            </a:pPr>
            <a:r>
              <a:rPr lang="en" b="1" dirty="0">
                <a:solidFill>
                  <a:srgbClr val="000000"/>
                </a:solidFill>
                <a:latin typeface="Roboto"/>
                <a:ea typeface="Roboto"/>
                <a:cs typeface="Roboto"/>
                <a:sym typeface="Roboto"/>
              </a:rPr>
              <a:t>Salifort Motors – Predicting Employee Churn</a:t>
            </a:r>
          </a:p>
          <a:p>
            <a:pPr marL="0" lvl="0" indent="0" algn="l" rtl="0">
              <a:spcBef>
                <a:spcPts val="0"/>
              </a:spcBef>
              <a:spcAft>
                <a:spcPts val="1200"/>
              </a:spcAft>
              <a:buNone/>
            </a:pPr>
            <a:r>
              <a:rPr lang="en" dirty="0">
                <a:solidFill>
                  <a:srgbClr val="000000"/>
                </a:solidFill>
                <a:latin typeface="Roboto"/>
                <a:ea typeface="Roboto"/>
                <a:cs typeface="Roboto"/>
                <a:sym typeface="Roboto"/>
              </a:rPr>
              <a:t>B</a:t>
            </a:r>
            <a:r>
              <a:rPr lang="en" dirty="0">
                <a:latin typeface="Roboto"/>
                <a:ea typeface="Roboto"/>
                <a:cs typeface="Roboto"/>
                <a:sym typeface="Roboto"/>
              </a:rPr>
              <a:t>uild a machine learning model to predict employees leaving the company and make recommendations on how to improve retention</a:t>
            </a:r>
            <a:endParaRPr dirty="0">
              <a:solidFill>
                <a:srgbClr val="000000"/>
              </a:solidFill>
              <a:latin typeface="Roboto"/>
              <a:ea typeface="Roboto"/>
              <a:cs typeface="Roboto"/>
              <a:sym typeface="Roboto"/>
            </a:endParaRPr>
          </a:p>
        </p:txBody>
      </p:sp>
      <p:sp>
        <p:nvSpPr>
          <p:cNvPr id="7" name="TextBox 6">
            <a:extLst>
              <a:ext uri="{FF2B5EF4-FFF2-40B4-BE49-F238E27FC236}">
                <a16:creationId xmlns:a16="http://schemas.microsoft.com/office/drawing/2014/main" id="{C00E7B75-8DCC-CD2B-1B2B-A7990BE22955}"/>
              </a:ext>
            </a:extLst>
          </p:cNvPr>
          <p:cNvSpPr txBox="1"/>
          <p:nvPr/>
        </p:nvSpPr>
        <p:spPr>
          <a:xfrm>
            <a:off x="2076460" y="1495744"/>
            <a:ext cx="9364426" cy="646331"/>
          </a:xfrm>
          <a:prstGeom prst="rect">
            <a:avLst/>
          </a:prstGeom>
          <a:noFill/>
        </p:spPr>
        <p:txBody>
          <a:bodyPr wrap="square" rtlCol="0">
            <a:spAutoFit/>
          </a:bodyPr>
          <a:lstStyle/>
          <a:p>
            <a:r>
              <a:rPr lang="en-US" sz="1200" dirty="0" err="1"/>
              <a:t>Salifort</a:t>
            </a:r>
            <a:r>
              <a:rPr lang="en-US" sz="1200" dirty="0"/>
              <a:t> Motors want to reduce employee churn. They have collated data from an employee survey to help determine the reasons for </a:t>
            </a:r>
            <a:r>
              <a:rPr lang="en-GB" sz="1200" dirty="0"/>
              <a:t>staff leaving. They want a machine learning model built that can predict if employees are likely to churn and want recommendations on how they can improve staff retention.</a:t>
            </a:r>
            <a:endParaRPr lang="en-US" sz="1200" dirty="0"/>
          </a:p>
        </p:txBody>
      </p:sp>
      <p:sp>
        <p:nvSpPr>
          <p:cNvPr id="8" name="TextBox 7">
            <a:extLst>
              <a:ext uri="{FF2B5EF4-FFF2-40B4-BE49-F238E27FC236}">
                <a16:creationId xmlns:a16="http://schemas.microsoft.com/office/drawing/2014/main" id="{7DF2A544-D79E-593A-8E59-E137A4E9936B}"/>
              </a:ext>
            </a:extLst>
          </p:cNvPr>
          <p:cNvSpPr txBox="1"/>
          <p:nvPr/>
        </p:nvSpPr>
        <p:spPr>
          <a:xfrm>
            <a:off x="2076460" y="2404816"/>
            <a:ext cx="9648774" cy="461665"/>
          </a:xfrm>
          <a:prstGeom prst="rect">
            <a:avLst/>
          </a:prstGeom>
          <a:noFill/>
        </p:spPr>
        <p:txBody>
          <a:bodyPr wrap="square" rtlCol="0">
            <a:spAutoFit/>
          </a:bodyPr>
          <a:lstStyle/>
          <a:p>
            <a:r>
              <a:rPr lang="en-US" sz="1200" dirty="0"/>
              <a:t>When staff leave </a:t>
            </a:r>
            <a:r>
              <a:rPr lang="en-US" sz="1200" dirty="0" err="1"/>
              <a:t>Salifort</a:t>
            </a:r>
            <a:r>
              <a:rPr lang="en-US" sz="1200" dirty="0"/>
              <a:t> Motors this represents a financial loss as they spend a lot of money on hiring and training staff. They don’t currently know the reasons for staff leaving, so they don’t know how to improve staff retention.</a:t>
            </a:r>
          </a:p>
        </p:txBody>
      </p:sp>
      <p:sp>
        <p:nvSpPr>
          <p:cNvPr id="9" name="TextBox 8">
            <a:extLst>
              <a:ext uri="{FF2B5EF4-FFF2-40B4-BE49-F238E27FC236}">
                <a16:creationId xmlns:a16="http://schemas.microsoft.com/office/drawing/2014/main" id="{3DE8612F-B3C5-E53F-8808-2F4544665B3E}"/>
              </a:ext>
            </a:extLst>
          </p:cNvPr>
          <p:cNvSpPr txBox="1"/>
          <p:nvPr/>
        </p:nvSpPr>
        <p:spPr>
          <a:xfrm>
            <a:off x="1938889" y="3077954"/>
            <a:ext cx="9927763" cy="830997"/>
          </a:xfrm>
          <a:prstGeom prst="rect">
            <a:avLst/>
          </a:prstGeom>
          <a:noFill/>
        </p:spPr>
        <p:txBody>
          <a:bodyPr wrap="square" rtlCol="0">
            <a:spAutoFit/>
          </a:bodyPr>
          <a:lstStyle/>
          <a:p>
            <a:r>
              <a:rPr lang="en-US" sz="1200" dirty="0"/>
              <a:t>A logistic regression model was built as well as a random forest model. The random forest model performed best. It identified 86% of actual leavers as leavers. By surveying staff regularly (for example on a quarterly basis), the company can run the model to predict which staff are likely to churn. In addition by understanding the predictors of churn used in the model, management can then implement the correct intervention strategies to reduce employees leaving the company.</a:t>
            </a:r>
          </a:p>
        </p:txBody>
      </p:sp>
      <p:sp>
        <p:nvSpPr>
          <p:cNvPr id="10" name="TextBox 9">
            <a:extLst>
              <a:ext uri="{FF2B5EF4-FFF2-40B4-BE49-F238E27FC236}">
                <a16:creationId xmlns:a16="http://schemas.microsoft.com/office/drawing/2014/main" id="{0E217C29-6C55-E821-D984-1E4305996D98}"/>
              </a:ext>
            </a:extLst>
          </p:cNvPr>
          <p:cNvSpPr txBox="1"/>
          <p:nvPr/>
        </p:nvSpPr>
        <p:spPr>
          <a:xfrm>
            <a:off x="389004" y="8706779"/>
            <a:ext cx="7266733" cy="553998"/>
          </a:xfrm>
          <a:prstGeom prst="rect">
            <a:avLst/>
          </a:prstGeom>
          <a:noFill/>
        </p:spPr>
        <p:txBody>
          <a:bodyPr wrap="none" rtlCol="0">
            <a:spAutoFit/>
          </a:bodyPr>
          <a:lstStyle/>
          <a:p>
            <a:r>
              <a:rPr lang="en-US" sz="1000" dirty="0"/>
              <a:t>To improve employee retention, the company needs to look at factors such as the number of projects, tenure, and hours which </a:t>
            </a:r>
          </a:p>
          <a:p>
            <a:r>
              <a:rPr lang="en-US" sz="1000" dirty="0"/>
              <a:t>Are all associated with higher leave rates. Overworked employees seem to be associated with higher leave rates and lower</a:t>
            </a:r>
            <a:br>
              <a:rPr lang="en-US" sz="1000" dirty="0"/>
            </a:br>
            <a:r>
              <a:rPr lang="en-US" sz="1000" dirty="0"/>
              <a:t>satisfaction scores.</a:t>
            </a:r>
          </a:p>
        </p:txBody>
      </p:sp>
      <p:pic>
        <p:nvPicPr>
          <p:cNvPr id="11" name="Picture 10">
            <a:extLst>
              <a:ext uri="{FF2B5EF4-FFF2-40B4-BE49-F238E27FC236}">
                <a16:creationId xmlns:a16="http://schemas.microsoft.com/office/drawing/2014/main" id="{6A0C8F77-E950-A71B-C1BB-38A0F7E35515}"/>
              </a:ext>
            </a:extLst>
          </p:cNvPr>
          <p:cNvPicPr>
            <a:picLocks noChangeAspect="1"/>
          </p:cNvPicPr>
          <p:nvPr/>
        </p:nvPicPr>
        <p:blipFill>
          <a:blip r:embed="rId2"/>
          <a:stretch>
            <a:fillRect/>
          </a:stretch>
        </p:blipFill>
        <p:spPr>
          <a:xfrm>
            <a:off x="8403543" y="4178412"/>
            <a:ext cx="3037343" cy="2505120"/>
          </a:xfrm>
          <a:prstGeom prst="rect">
            <a:avLst/>
          </a:prstGeom>
        </p:spPr>
      </p:pic>
      <p:pic>
        <p:nvPicPr>
          <p:cNvPr id="12" name="Picture 11">
            <a:extLst>
              <a:ext uri="{FF2B5EF4-FFF2-40B4-BE49-F238E27FC236}">
                <a16:creationId xmlns:a16="http://schemas.microsoft.com/office/drawing/2014/main" id="{DBBCA285-A2D6-D76F-D539-8999B12336E9}"/>
              </a:ext>
            </a:extLst>
          </p:cNvPr>
          <p:cNvPicPr>
            <a:picLocks noChangeAspect="1"/>
          </p:cNvPicPr>
          <p:nvPr/>
        </p:nvPicPr>
        <p:blipFill>
          <a:blip r:embed="rId3"/>
          <a:stretch>
            <a:fillRect/>
          </a:stretch>
        </p:blipFill>
        <p:spPr>
          <a:xfrm>
            <a:off x="2238214" y="5355375"/>
            <a:ext cx="4501633" cy="1239470"/>
          </a:xfrm>
          <a:prstGeom prst="rect">
            <a:avLst/>
          </a:prstGeom>
        </p:spPr>
      </p:pic>
      <p:sp>
        <p:nvSpPr>
          <p:cNvPr id="13" name="TextBox 12">
            <a:extLst>
              <a:ext uri="{FF2B5EF4-FFF2-40B4-BE49-F238E27FC236}">
                <a16:creationId xmlns:a16="http://schemas.microsoft.com/office/drawing/2014/main" id="{A71C01D1-03C2-912A-B5D2-D250AE89BD94}"/>
              </a:ext>
            </a:extLst>
          </p:cNvPr>
          <p:cNvSpPr txBox="1"/>
          <p:nvPr/>
        </p:nvSpPr>
        <p:spPr>
          <a:xfrm>
            <a:off x="1938889" y="4120424"/>
            <a:ext cx="9114055" cy="1200329"/>
          </a:xfrm>
          <a:prstGeom prst="rect">
            <a:avLst/>
          </a:prstGeom>
          <a:noFill/>
        </p:spPr>
        <p:txBody>
          <a:bodyPr wrap="square" rtlCol="0">
            <a:spAutoFit/>
          </a:bodyPr>
          <a:lstStyle/>
          <a:p>
            <a:r>
              <a:rPr lang="en-US" sz="1200" dirty="0"/>
              <a:t>The random forest model results are as follows:</a:t>
            </a:r>
          </a:p>
          <a:p>
            <a:endParaRPr lang="en-US" sz="1200" dirty="0"/>
          </a:p>
          <a:p>
            <a:r>
              <a:rPr lang="en-US" sz="1200" dirty="0"/>
              <a:t>Recall (best metric) of predicting leavers out of all actual leavers out of all identified leavers was 86%</a:t>
            </a:r>
          </a:p>
          <a:p>
            <a:r>
              <a:rPr lang="en-GB" sz="1200" dirty="0"/>
              <a:t>False Positives were 10% (leavers identified as non-leavers).</a:t>
            </a:r>
          </a:p>
          <a:p>
            <a:r>
              <a:rPr lang="en-GB" sz="1200" dirty="0"/>
              <a:t>False Negatives were 2% (leavers predicted as not leaving)</a:t>
            </a:r>
          </a:p>
          <a:p>
            <a:r>
              <a:rPr lang="en-GB" sz="1200" dirty="0"/>
              <a:t>F1 score which is a balance of recall and precision was 96%</a:t>
            </a:r>
          </a:p>
        </p:txBody>
      </p:sp>
      <p:pic>
        <p:nvPicPr>
          <p:cNvPr id="15" name="Picture 14">
            <a:extLst>
              <a:ext uri="{FF2B5EF4-FFF2-40B4-BE49-F238E27FC236}">
                <a16:creationId xmlns:a16="http://schemas.microsoft.com/office/drawing/2014/main" id="{D42C6FC0-5983-58B8-FE57-A114BBF449BF}"/>
              </a:ext>
            </a:extLst>
          </p:cNvPr>
          <p:cNvPicPr>
            <a:picLocks noChangeAspect="1"/>
          </p:cNvPicPr>
          <p:nvPr/>
        </p:nvPicPr>
        <p:blipFill>
          <a:blip r:embed="rId4"/>
          <a:stretch>
            <a:fillRect/>
          </a:stretch>
        </p:blipFill>
        <p:spPr>
          <a:xfrm>
            <a:off x="319556" y="1428353"/>
            <a:ext cx="1619333" cy="2197213"/>
          </a:xfrm>
          <a:prstGeom prst="rect">
            <a:avLst/>
          </a:prstGeom>
        </p:spPr>
      </p:pic>
      <p:pic>
        <p:nvPicPr>
          <p:cNvPr id="17" name="Picture 16">
            <a:extLst>
              <a:ext uri="{FF2B5EF4-FFF2-40B4-BE49-F238E27FC236}">
                <a16:creationId xmlns:a16="http://schemas.microsoft.com/office/drawing/2014/main" id="{C421152B-A4DF-5663-AFD6-7FFB414D4486}"/>
              </a:ext>
            </a:extLst>
          </p:cNvPr>
          <p:cNvPicPr>
            <a:picLocks noChangeAspect="1"/>
          </p:cNvPicPr>
          <p:nvPr/>
        </p:nvPicPr>
        <p:blipFill>
          <a:blip r:embed="rId5"/>
          <a:stretch>
            <a:fillRect/>
          </a:stretch>
        </p:blipFill>
        <p:spPr>
          <a:xfrm>
            <a:off x="244854" y="4135733"/>
            <a:ext cx="1581231" cy="463574"/>
          </a:xfrm>
          <a:prstGeom prst="rect">
            <a:avLst/>
          </a:prstGeom>
        </p:spPr>
      </p:pic>
    </p:spTree>
    <p:extLst>
      <p:ext uri="{BB962C8B-B14F-4D97-AF65-F5344CB8AC3E}">
        <p14:creationId xmlns:p14="http://schemas.microsoft.com/office/powerpoint/2010/main" val="3579219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433;p18">
            <a:extLst>
              <a:ext uri="{FF2B5EF4-FFF2-40B4-BE49-F238E27FC236}">
                <a16:creationId xmlns:a16="http://schemas.microsoft.com/office/drawing/2014/main" id="{04E47AC9-41C5-B065-EFF8-853D34269DE6}"/>
              </a:ext>
            </a:extLst>
          </p:cNvPr>
          <p:cNvSpPr txBox="1"/>
          <p:nvPr/>
        </p:nvSpPr>
        <p:spPr>
          <a:xfrm>
            <a:off x="3986375" y="71865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
        <p:nvSpPr>
          <p:cNvPr id="7" name="Google Shape;437;p18">
            <a:extLst>
              <a:ext uri="{FF2B5EF4-FFF2-40B4-BE49-F238E27FC236}">
                <a16:creationId xmlns:a16="http://schemas.microsoft.com/office/drawing/2014/main" id="{0B6FCF35-A6AA-036F-554E-08B3FAAD6136}"/>
              </a:ext>
            </a:extLst>
          </p:cNvPr>
          <p:cNvSpPr txBox="1"/>
          <p:nvPr/>
        </p:nvSpPr>
        <p:spPr>
          <a:xfrm>
            <a:off x="176650" y="91919"/>
            <a:ext cx="3516900" cy="40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200"/>
              </a:spcAft>
              <a:buNone/>
            </a:pPr>
            <a:r>
              <a:rPr lang="en" b="1" dirty="0">
                <a:latin typeface="Roboto"/>
                <a:ea typeface="Roboto"/>
                <a:cs typeface="Roboto"/>
                <a:sym typeface="Roboto"/>
              </a:rPr>
              <a:t>Feature Analysis</a:t>
            </a:r>
            <a:endParaRPr b="1" dirty="0">
              <a:solidFill>
                <a:srgbClr val="000000"/>
              </a:solidFill>
              <a:latin typeface="Roboto"/>
              <a:ea typeface="Roboto"/>
              <a:cs typeface="Roboto"/>
              <a:sym typeface="Roboto"/>
            </a:endParaRPr>
          </a:p>
        </p:txBody>
      </p:sp>
      <p:sp>
        <p:nvSpPr>
          <p:cNvPr id="10" name="TextBox 9">
            <a:extLst>
              <a:ext uri="{FF2B5EF4-FFF2-40B4-BE49-F238E27FC236}">
                <a16:creationId xmlns:a16="http://schemas.microsoft.com/office/drawing/2014/main" id="{8088B2D3-829D-A4E3-81FD-9975932C8423}"/>
              </a:ext>
            </a:extLst>
          </p:cNvPr>
          <p:cNvSpPr txBox="1"/>
          <p:nvPr/>
        </p:nvSpPr>
        <p:spPr>
          <a:xfrm>
            <a:off x="384629" y="5502265"/>
            <a:ext cx="4793546" cy="461665"/>
          </a:xfrm>
          <a:prstGeom prst="rect">
            <a:avLst/>
          </a:prstGeom>
          <a:noFill/>
        </p:spPr>
        <p:txBody>
          <a:bodyPr wrap="square" rtlCol="0">
            <a:spAutoFit/>
          </a:bodyPr>
          <a:lstStyle/>
          <a:p>
            <a:r>
              <a:rPr lang="en-US" sz="1200" dirty="0"/>
              <a:t>Lower satisfaction scores were associated with higher leaving employee</a:t>
            </a:r>
          </a:p>
        </p:txBody>
      </p:sp>
      <p:sp>
        <p:nvSpPr>
          <p:cNvPr id="11" name="TextBox 10">
            <a:extLst>
              <a:ext uri="{FF2B5EF4-FFF2-40B4-BE49-F238E27FC236}">
                <a16:creationId xmlns:a16="http://schemas.microsoft.com/office/drawing/2014/main" id="{01ADF62A-9B19-38F1-20AE-317B892F94AF}"/>
              </a:ext>
            </a:extLst>
          </p:cNvPr>
          <p:cNvSpPr txBox="1"/>
          <p:nvPr/>
        </p:nvSpPr>
        <p:spPr>
          <a:xfrm>
            <a:off x="176650" y="2406292"/>
            <a:ext cx="4928964" cy="461665"/>
          </a:xfrm>
          <a:prstGeom prst="rect">
            <a:avLst/>
          </a:prstGeom>
          <a:solidFill>
            <a:schemeClr val="bg1"/>
          </a:solidFill>
        </p:spPr>
        <p:txBody>
          <a:bodyPr wrap="square" rtlCol="0">
            <a:spAutoFit/>
          </a:bodyPr>
          <a:lstStyle/>
          <a:p>
            <a:r>
              <a:rPr lang="en-US" sz="1200" dirty="0"/>
              <a:t>Tenure (how long staff have worked for the company) was found to have a number of outliers that were removed from the model</a:t>
            </a:r>
            <a:endParaRPr lang="en-GB" sz="1200" dirty="0"/>
          </a:p>
        </p:txBody>
      </p:sp>
      <p:sp>
        <p:nvSpPr>
          <p:cNvPr id="12" name="TextBox 11">
            <a:extLst>
              <a:ext uri="{FF2B5EF4-FFF2-40B4-BE49-F238E27FC236}">
                <a16:creationId xmlns:a16="http://schemas.microsoft.com/office/drawing/2014/main" id="{6AAC66F6-904C-C2E4-5ED9-CF5434B4C61E}"/>
              </a:ext>
            </a:extLst>
          </p:cNvPr>
          <p:cNvSpPr txBox="1"/>
          <p:nvPr/>
        </p:nvSpPr>
        <p:spPr>
          <a:xfrm>
            <a:off x="5777501" y="2989787"/>
            <a:ext cx="4758816" cy="461665"/>
          </a:xfrm>
          <a:prstGeom prst="rect">
            <a:avLst/>
          </a:prstGeom>
          <a:noFill/>
        </p:spPr>
        <p:txBody>
          <a:bodyPr wrap="square" rtlCol="0">
            <a:spAutoFit/>
          </a:bodyPr>
          <a:lstStyle/>
          <a:p>
            <a:r>
              <a:rPr lang="en-US" sz="1200" dirty="0"/>
              <a:t>Tenure appears to be a good predictor of employee churn, with 5 years having the maximum churn rate.</a:t>
            </a:r>
            <a:endParaRPr lang="en-GB" sz="1200" dirty="0"/>
          </a:p>
        </p:txBody>
      </p:sp>
      <p:sp>
        <p:nvSpPr>
          <p:cNvPr id="13" name="Rectangle 12">
            <a:extLst>
              <a:ext uri="{FF2B5EF4-FFF2-40B4-BE49-F238E27FC236}">
                <a16:creationId xmlns:a16="http://schemas.microsoft.com/office/drawing/2014/main" id="{C7B81E12-58C1-F5BD-76BC-3F8ED0724A91}"/>
              </a:ext>
            </a:extLst>
          </p:cNvPr>
          <p:cNvSpPr/>
          <p:nvPr/>
        </p:nvSpPr>
        <p:spPr>
          <a:xfrm>
            <a:off x="176650" y="2811413"/>
            <a:ext cx="207979" cy="4001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243FFB1F-0161-F989-8133-5F3BE327AE40}"/>
              </a:ext>
            </a:extLst>
          </p:cNvPr>
          <p:cNvSpPr txBox="1"/>
          <p:nvPr/>
        </p:nvSpPr>
        <p:spPr>
          <a:xfrm>
            <a:off x="5849662" y="6113550"/>
            <a:ext cx="6571794" cy="461665"/>
          </a:xfrm>
          <a:prstGeom prst="rect">
            <a:avLst/>
          </a:prstGeom>
          <a:noFill/>
        </p:spPr>
        <p:txBody>
          <a:bodyPr wrap="square" rtlCol="0">
            <a:spAutoFit/>
          </a:bodyPr>
          <a:lstStyle/>
          <a:p>
            <a:r>
              <a:rPr lang="en-US" sz="1200" dirty="0"/>
              <a:t>As the number of projects increases, so does the likelihood of employee churn. </a:t>
            </a:r>
          </a:p>
          <a:p>
            <a:r>
              <a:rPr lang="en-US" sz="1200" dirty="0"/>
              <a:t>Note: 2 projects is associated with newer employee tenure.</a:t>
            </a:r>
            <a:endParaRPr lang="en-GB" sz="1200" dirty="0"/>
          </a:p>
        </p:txBody>
      </p:sp>
      <p:pic>
        <p:nvPicPr>
          <p:cNvPr id="19" name="Picture 18">
            <a:extLst>
              <a:ext uri="{FF2B5EF4-FFF2-40B4-BE49-F238E27FC236}">
                <a16:creationId xmlns:a16="http://schemas.microsoft.com/office/drawing/2014/main" id="{E51E9163-DE9B-4F60-3063-59AE2297FCBE}"/>
              </a:ext>
            </a:extLst>
          </p:cNvPr>
          <p:cNvPicPr>
            <a:picLocks noChangeAspect="1"/>
          </p:cNvPicPr>
          <p:nvPr/>
        </p:nvPicPr>
        <p:blipFill>
          <a:blip r:embed="rId2"/>
          <a:stretch>
            <a:fillRect/>
          </a:stretch>
        </p:blipFill>
        <p:spPr>
          <a:xfrm>
            <a:off x="384629" y="609058"/>
            <a:ext cx="4620239" cy="1832300"/>
          </a:xfrm>
          <a:prstGeom prst="rect">
            <a:avLst/>
          </a:prstGeom>
        </p:spPr>
      </p:pic>
      <p:pic>
        <p:nvPicPr>
          <p:cNvPr id="23" name="Picture 22">
            <a:extLst>
              <a:ext uri="{FF2B5EF4-FFF2-40B4-BE49-F238E27FC236}">
                <a16:creationId xmlns:a16="http://schemas.microsoft.com/office/drawing/2014/main" id="{F77B42DC-D4B7-28CB-A7A1-4B27E043480F}"/>
              </a:ext>
            </a:extLst>
          </p:cNvPr>
          <p:cNvPicPr>
            <a:picLocks noChangeAspect="1"/>
          </p:cNvPicPr>
          <p:nvPr/>
        </p:nvPicPr>
        <p:blipFill>
          <a:blip r:embed="rId3"/>
          <a:stretch>
            <a:fillRect/>
          </a:stretch>
        </p:blipFill>
        <p:spPr>
          <a:xfrm>
            <a:off x="280639" y="3581578"/>
            <a:ext cx="5239248" cy="1863197"/>
          </a:xfrm>
          <a:prstGeom prst="rect">
            <a:avLst/>
          </a:prstGeom>
        </p:spPr>
      </p:pic>
      <p:pic>
        <p:nvPicPr>
          <p:cNvPr id="27" name="Picture 26">
            <a:extLst>
              <a:ext uri="{FF2B5EF4-FFF2-40B4-BE49-F238E27FC236}">
                <a16:creationId xmlns:a16="http://schemas.microsoft.com/office/drawing/2014/main" id="{06C49E53-64BE-1A08-4BFB-F1F3656D9553}"/>
              </a:ext>
            </a:extLst>
          </p:cNvPr>
          <p:cNvPicPr>
            <a:picLocks noChangeAspect="1"/>
          </p:cNvPicPr>
          <p:nvPr/>
        </p:nvPicPr>
        <p:blipFill>
          <a:blip r:embed="rId4"/>
          <a:stretch>
            <a:fillRect/>
          </a:stretch>
        </p:blipFill>
        <p:spPr>
          <a:xfrm>
            <a:off x="5849662" y="157600"/>
            <a:ext cx="4363852" cy="2735216"/>
          </a:xfrm>
          <a:prstGeom prst="rect">
            <a:avLst/>
          </a:prstGeom>
        </p:spPr>
      </p:pic>
      <p:pic>
        <p:nvPicPr>
          <p:cNvPr id="28" name="Picture 27">
            <a:extLst>
              <a:ext uri="{FF2B5EF4-FFF2-40B4-BE49-F238E27FC236}">
                <a16:creationId xmlns:a16="http://schemas.microsoft.com/office/drawing/2014/main" id="{C66B8EB3-56BA-7501-C289-C463013313A2}"/>
              </a:ext>
            </a:extLst>
          </p:cNvPr>
          <p:cNvPicPr>
            <a:picLocks noChangeAspect="1"/>
          </p:cNvPicPr>
          <p:nvPr/>
        </p:nvPicPr>
        <p:blipFill>
          <a:blip r:embed="rId5"/>
          <a:stretch>
            <a:fillRect/>
          </a:stretch>
        </p:blipFill>
        <p:spPr>
          <a:xfrm>
            <a:off x="5777501" y="3647969"/>
            <a:ext cx="3884740" cy="2349547"/>
          </a:xfrm>
          <a:prstGeom prst="rect">
            <a:avLst/>
          </a:prstGeom>
        </p:spPr>
      </p:pic>
    </p:spTree>
    <p:extLst>
      <p:ext uri="{BB962C8B-B14F-4D97-AF65-F5344CB8AC3E}">
        <p14:creationId xmlns:p14="http://schemas.microsoft.com/office/powerpoint/2010/main" val="383136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769C086-72F7-3D1C-00A1-591B6C03281A}"/>
              </a:ext>
            </a:extLst>
          </p:cNvPr>
          <p:cNvPicPr>
            <a:picLocks noChangeAspect="1"/>
          </p:cNvPicPr>
          <p:nvPr/>
        </p:nvPicPr>
        <p:blipFill>
          <a:blip r:embed="rId2"/>
          <a:stretch>
            <a:fillRect/>
          </a:stretch>
        </p:blipFill>
        <p:spPr>
          <a:xfrm>
            <a:off x="701210" y="1043333"/>
            <a:ext cx="6860569" cy="5468438"/>
          </a:xfrm>
          <a:prstGeom prst="rect">
            <a:avLst/>
          </a:prstGeom>
        </p:spPr>
      </p:pic>
      <p:sp>
        <p:nvSpPr>
          <p:cNvPr id="4" name="Google Shape;437;p18">
            <a:extLst>
              <a:ext uri="{FF2B5EF4-FFF2-40B4-BE49-F238E27FC236}">
                <a16:creationId xmlns:a16="http://schemas.microsoft.com/office/drawing/2014/main" id="{798DDDD8-EBEC-7328-D27D-22F0D7386A63}"/>
              </a:ext>
            </a:extLst>
          </p:cNvPr>
          <p:cNvSpPr txBox="1"/>
          <p:nvPr/>
        </p:nvSpPr>
        <p:spPr>
          <a:xfrm>
            <a:off x="176649" y="92212"/>
            <a:ext cx="3516900" cy="40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200"/>
              </a:spcAft>
              <a:buNone/>
            </a:pPr>
            <a:r>
              <a:rPr lang="en" b="1" dirty="0">
                <a:latin typeface="Roboto"/>
                <a:ea typeface="Roboto"/>
                <a:cs typeface="Roboto"/>
                <a:sym typeface="Roboto"/>
              </a:rPr>
              <a:t>Correlation</a:t>
            </a:r>
            <a:endParaRPr b="1" dirty="0">
              <a:solidFill>
                <a:srgbClr val="000000"/>
              </a:solidFill>
              <a:latin typeface="Roboto"/>
              <a:ea typeface="Roboto"/>
              <a:cs typeface="Roboto"/>
              <a:sym typeface="Roboto"/>
            </a:endParaRPr>
          </a:p>
        </p:txBody>
      </p:sp>
      <p:sp>
        <p:nvSpPr>
          <p:cNvPr id="5" name="TextBox 4">
            <a:extLst>
              <a:ext uri="{FF2B5EF4-FFF2-40B4-BE49-F238E27FC236}">
                <a16:creationId xmlns:a16="http://schemas.microsoft.com/office/drawing/2014/main" id="{03BA2A7B-293B-FB82-5F4C-9DCEFDE603CA}"/>
              </a:ext>
            </a:extLst>
          </p:cNvPr>
          <p:cNvSpPr txBox="1"/>
          <p:nvPr/>
        </p:nvSpPr>
        <p:spPr>
          <a:xfrm>
            <a:off x="7890553" y="1253447"/>
            <a:ext cx="3600237" cy="1938992"/>
          </a:xfrm>
          <a:prstGeom prst="rect">
            <a:avLst/>
          </a:prstGeom>
          <a:noFill/>
        </p:spPr>
        <p:txBody>
          <a:bodyPr wrap="square" rtlCol="0">
            <a:spAutoFit/>
          </a:bodyPr>
          <a:lstStyle/>
          <a:p>
            <a:pPr marL="171450" indent="-171450">
              <a:buFont typeface="Arial" panose="020B0604020202020204" pitchFamily="34" charset="0"/>
              <a:buChar char="•"/>
            </a:pPr>
            <a:r>
              <a:rPr lang="en-US" sz="1200" dirty="0"/>
              <a:t>Satisfaction has the highest correlation (negative) with leavers at -0.35</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Tenure (years of work), was the next strongest at 0.24</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dirty="0"/>
              <a:t>There is a covariance between the number of projects and average monthly hours of 0.33. So, we may want to remove one of these features from the model.</a:t>
            </a:r>
            <a:endParaRPr lang="en-GB" sz="1200" dirty="0"/>
          </a:p>
        </p:txBody>
      </p:sp>
    </p:spTree>
    <p:extLst>
      <p:ext uri="{BB962C8B-B14F-4D97-AF65-F5344CB8AC3E}">
        <p14:creationId xmlns:p14="http://schemas.microsoft.com/office/powerpoint/2010/main" val="17623154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462</Words>
  <Application>Microsoft Office PowerPoint</Application>
  <PresentationFormat>Widescreen</PresentationFormat>
  <Paragraphs>26</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Aptos</vt:lpstr>
      <vt:lpstr>Aptos Display</vt:lpstr>
      <vt:lpstr>Arial</vt:lpstr>
      <vt:lpstr>Lato</vt:lpstr>
      <vt:lpstr>Roboto</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Bower</dc:creator>
  <cp:lastModifiedBy>Chris Bower</cp:lastModifiedBy>
  <cp:revision>7</cp:revision>
  <dcterms:created xsi:type="dcterms:W3CDTF">2024-07-04T03:00:04Z</dcterms:created>
  <dcterms:modified xsi:type="dcterms:W3CDTF">2024-07-04T03:51:13Z</dcterms:modified>
</cp:coreProperties>
</file>